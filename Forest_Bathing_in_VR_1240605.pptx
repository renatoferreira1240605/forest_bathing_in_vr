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22"/>
  </p:notesMasterIdLst>
  <p:handoutMasterIdLst>
    <p:handoutMasterId r:id="rId23"/>
  </p:handoutMasterIdLst>
  <p:sldIdLst>
    <p:sldId id="258" r:id="rId4"/>
    <p:sldId id="264" r:id="rId5"/>
    <p:sldId id="265" r:id="rId6"/>
    <p:sldId id="266" r:id="rId7"/>
    <p:sldId id="267" r:id="rId8"/>
    <p:sldId id="268" r:id="rId9"/>
    <p:sldId id="272" r:id="rId10"/>
    <p:sldId id="274" r:id="rId11"/>
    <p:sldId id="275" r:id="rId12"/>
    <p:sldId id="277" r:id="rId13"/>
    <p:sldId id="283" r:id="rId14"/>
    <p:sldId id="284" r:id="rId15"/>
    <p:sldId id="278" r:id="rId16"/>
    <p:sldId id="281" r:id="rId17"/>
    <p:sldId id="282" r:id="rId18"/>
    <p:sldId id="285" r:id="rId19"/>
    <p:sldId id="259" r:id="rId20"/>
    <p:sldId id="262" r:id="rId2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1A24"/>
    <a:srgbClr val="A5ACB0"/>
    <a:srgbClr val="E06C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5ACF44-F6DF-4F15-A367-25EDD107FC19}" v="31" dt="2026-01-06T21:23:54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6327"/>
  </p:normalViewPr>
  <p:slideViewPr>
    <p:cSldViewPr snapToGrid="0">
      <p:cViewPr varScale="1">
        <p:scale>
          <a:sx n="99" d="100"/>
          <a:sy n="99" d="100"/>
        </p:scale>
        <p:origin x="84" y="3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5" d="100"/>
          <a:sy n="105" d="100"/>
        </p:scale>
        <p:origin x="56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o Ferreira Magalhães" userId="83bba0de-9183-469f-bc71-1daf841d6ed3" providerId="ADAL" clId="{972D05CE-6078-4A56-9A08-2F04D049B41A}"/>
    <pc:docChg chg="undo redo custSel addSld modSld">
      <pc:chgData name="Renato Ferreira Magalhães" userId="83bba0de-9183-469f-bc71-1daf841d6ed3" providerId="ADAL" clId="{972D05CE-6078-4A56-9A08-2F04D049B41A}" dt="2026-01-06T21:33:36.392" v="973" actId="20577"/>
      <pc:docMkLst>
        <pc:docMk/>
      </pc:docMkLst>
      <pc:sldChg chg="modSp mod">
        <pc:chgData name="Renato Ferreira Magalhães" userId="83bba0de-9183-469f-bc71-1daf841d6ed3" providerId="ADAL" clId="{972D05CE-6078-4A56-9A08-2F04D049B41A}" dt="2026-01-06T20:49:30.767" v="275" actId="790"/>
        <pc:sldMkLst>
          <pc:docMk/>
          <pc:sldMk cId="4212827410" sldId="264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4212827410" sldId="264"/>
            <ac:spMk id="2" creationId="{65AD47BA-EAB4-E317-6045-F158F0520B76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4212827410" sldId="264"/>
            <ac:spMk id="3" creationId="{F0C28FC6-C98F-320B-B22E-13ED30BF9D0A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32:36.181" v="966" actId="20577"/>
        <pc:sldMkLst>
          <pc:docMk/>
          <pc:sldMk cId="2921737576" sldId="265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921737576" sldId="265"/>
            <ac:spMk id="2" creationId="{9639ACF7-809C-1EF4-4419-82F8C2CE000D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921737576" sldId="265"/>
            <ac:spMk id="4" creationId="{36FD9F54-30BE-8592-3AD8-B4944CF13117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921737576" sldId="265"/>
            <ac:spMk id="10" creationId="{BE0EE9D0-4EC8-1936-62F3-E80E9D00DF18}"/>
          </ac:spMkLst>
        </pc:spChg>
        <pc:spChg chg="mod">
          <ac:chgData name="Renato Ferreira Magalhães" userId="83bba0de-9183-469f-bc71-1daf841d6ed3" providerId="ADAL" clId="{972D05CE-6078-4A56-9A08-2F04D049B41A}" dt="2026-01-06T21:32:36.181" v="966" actId="20577"/>
          <ac:spMkLst>
            <pc:docMk/>
            <pc:sldMk cId="2921737576" sldId="265"/>
            <ac:spMk id="11" creationId="{03958E48-66AE-5D0E-82BA-AA9A614B1DA4}"/>
          </ac:spMkLst>
        </pc:spChg>
      </pc:sldChg>
      <pc:sldChg chg="delSp modSp mod">
        <pc:chgData name="Renato Ferreira Magalhães" userId="83bba0de-9183-469f-bc71-1daf841d6ed3" providerId="ADAL" clId="{972D05CE-6078-4A56-9A08-2F04D049B41A}" dt="2026-01-06T21:29:02.286" v="929" actId="114"/>
        <pc:sldMkLst>
          <pc:docMk/>
          <pc:sldMk cId="3025101381" sldId="266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025101381" sldId="266"/>
            <ac:spMk id="8" creationId="{9297D26C-253B-B8EE-C887-A7FFF1C7DBB6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025101381" sldId="266"/>
            <ac:spMk id="9" creationId="{4861B012-1B52-15A9-9376-4A39CDD3EF1D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025101381" sldId="266"/>
            <ac:spMk id="10" creationId="{B7D018C4-AB7C-3BD5-9BF2-6F9E8E187B45}"/>
          </ac:spMkLst>
        </pc:spChg>
        <pc:spChg chg="del mod">
          <ac:chgData name="Renato Ferreira Magalhães" userId="83bba0de-9183-469f-bc71-1daf841d6ed3" providerId="ADAL" clId="{972D05CE-6078-4A56-9A08-2F04D049B41A}" dt="2026-01-06T21:23:49.077" v="902" actId="478"/>
          <ac:spMkLst>
            <pc:docMk/>
            <pc:sldMk cId="3025101381" sldId="266"/>
            <ac:spMk id="12" creationId="{F0570C0B-C0E5-A5B8-4DDD-62FFF3CD13A9}"/>
          </ac:spMkLst>
        </pc:spChg>
        <pc:spChg chg="mod">
          <ac:chgData name="Renato Ferreira Magalhães" userId="83bba0de-9183-469f-bc71-1daf841d6ed3" providerId="ADAL" clId="{972D05CE-6078-4A56-9A08-2F04D049B41A}" dt="2026-01-06T21:29:02.286" v="929" actId="114"/>
          <ac:spMkLst>
            <pc:docMk/>
            <pc:sldMk cId="3025101381" sldId="266"/>
            <ac:spMk id="13" creationId="{1619605F-42C0-1546-4227-D1ED52A3E3BD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28:41.720" v="924" actId="114"/>
        <pc:sldMkLst>
          <pc:docMk/>
          <pc:sldMk cId="1243608037" sldId="267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243608037" sldId="267"/>
            <ac:spMk id="2" creationId="{72B39BA7-69C1-9D7B-633C-110CF01E2450}"/>
          </ac:spMkLst>
        </pc:spChg>
        <pc:spChg chg="mod">
          <ac:chgData name="Renato Ferreira Magalhães" userId="83bba0de-9183-469f-bc71-1daf841d6ed3" providerId="ADAL" clId="{972D05CE-6078-4A56-9A08-2F04D049B41A}" dt="2026-01-06T21:28:41.720" v="924" actId="114"/>
          <ac:spMkLst>
            <pc:docMk/>
            <pc:sldMk cId="1243608037" sldId="267"/>
            <ac:spMk id="3" creationId="{C376935E-D85C-B3FB-AD7F-E10B2776038E}"/>
          </ac:spMkLst>
        </pc:spChg>
        <pc:spChg chg="mod">
          <ac:chgData name="Renato Ferreira Magalhães" userId="83bba0de-9183-469f-bc71-1daf841d6ed3" providerId="ADAL" clId="{972D05CE-6078-4A56-9A08-2F04D049B41A}" dt="2026-01-06T21:28:35.428" v="921" actId="114"/>
          <ac:spMkLst>
            <pc:docMk/>
            <pc:sldMk cId="1243608037" sldId="267"/>
            <ac:spMk id="4" creationId="{BEA5AF2C-DEA6-5B4A-9AB6-6E6CC391002F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243608037" sldId="267"/>
            <ac:spMk id="5" creationId="{7FEC5D7A-9576-6EC9-AABC-7E4B55739532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243608037" sldId="267"/>
            <ac:spMk id="6" creationId="{D4A1FE62-D7CA-6FE1-6DBF-2408AA4D1047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32:45.505" v="968" actId="20577"/>
        <pc:sldMkLst>
          <pc:docMk/>
          <pc:sldMk cId="4109230759" sldId="268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4109230759" sldId="268"/>
            <ac:spMk id="2" creationId="{ADEACAED-FFAD-5C5E-8B89-AE4E6BC3FC6C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4109230759" sldId="268"/>
            <ac:spMk id="5" creationId="{B80EC57B-F2AB-9D32-0CA3-DBD1BA702597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4109230759" sldId="268"/>
            <ac:spMk id="6" creationId="{378A7F15-4A52-DD4A-96BB-059CD8680CD1}"/>
          </ac:spMkLst>
        </pc:spChg>
        <pc:spChg chg="mod">
          <ac:chgData name="Renato Ferreira Magalhães" userId="83bba0de-9183-469f-bc71-1daf841d6ed3" providerId="ADAL" clId="{972D05CE-6078-4A56-9A08-2F04D049B41A}" dt="2026-01-06T21:32:45.505" v="968" actId="20577"/>
          <ac:spMkLst>
            <pc:docMk/>
            <pc:sldMk cId="4109230759" sldId="268"/>
            <ac:spMk id="10" creationId="{514AC985-62AF-3E97-5F17-DF38018621B4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32:51.472" v="970" actId="20577"/>
        <pc:sldMkLst>
          <pc:docMk/>
          <pc:sldMk cId="2552336718" sldId="272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552336718" sldId="272"/>
            <ac:spMk id="2" creationId="{7ABEB203-8D08-B9E0-164F-085A2900AF44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552336718" sldId="272"/>
            <ac:spMk id="5" creationId="{C925C576-99A2-F925-B69D-1501157EFB4A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552336718" sldId="272"/>
            <ac:spMk id="6" creationId="{651CAD79-2B36-FD9F-2FBF-E28ED39F6B27}"/>
          </ac:spMkLst>
        </pc:spChg>
        <pc:spChg chg="mod">
          <ac:chgData name="Renato Ferreira Magalhães" userId="83bba0de-9183-469f-bc71-1daf841d6ed3" providerId="ADAL" clId="{972D05CE-6078-4A56-9A08-2F04D049B41A}" dt="2026-01-06T21:32:51.472" v="970" actId="20577"/>
          <ac:spMkLst>
            <pc:docMk/>
            <pc:sldMk cId="2552336718" sldId="272"/>
            <ac:spMk id="10" creationId="{1282FF20-7D9F-60D1-458F-C4821226155C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33:36.392" v="973" actId="20577"/>
        <pc:sldMkLst>
          <pc:docMk/>
          <pc:sldMk cId="3911445768" sldId="274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911445768" sldId="274"/>
            <ac:spMk id="2" creationId="{3426FCF3-6AF6-D709-FBA8-AA0B81C2C722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911445768" sldId="274"/>
            <ac:spMk id="5" creationId="{CAE55989-6369-0698-876E-963C0737965D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911445768" sldId="274"/>
            <ac:spMk id="6" creationId="{83ED78FE-0757-17C6-20D0-58DA3B076E3C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911445768" sldId="274"/>
            <ac:spMk id="8" creationId="{B857DD38-D850-343F-9958-4663BB4FA4EE}"/>
          </ac:spMkLst>
        </pc:spChg>
        <pc:spChg chg="mod">
          <ac:chgData name="Renato Ferreira Magalhães" userId="83bba0de-9183-469f-bc71-1daf841d6ed3" providerId="ADAL" clId="{972D05CE-6078-4A56-9A08-2F04D049B41A}" dt="2026-01-06T21:33:36.392" v="973" actId="20577"/>
          <ac:spMkLst>
            <pc:docMk/>
            <pc:sldMk cId="3911445768" sldId="274"/>
            <ac:spMk id="10" creationId="{9DEB5121-7B9F-96AE-6EA0-060B27B64572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31:01.041" v="954" actId="114"/>
        <pc:sldMkLst>
          <pc:docMk/>
          <pc:sldMk cId="3610838255" sldId="275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610838255" sldId="275"/>
            <ac:spMk id="2" creationId="{0D03AAAE-84F1-D729-6959-C2A3DAE8E5A4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610838255" sldId="275"/>
            <ac:spMk id="5" creationId="{608D3047-8EC9-ABCA-D1CB-0943404A4CBE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3610838255" sldId="275"/>
            <ac:spMk id="6" creationId="{8E0A8244-A4F5-5C74-5B3A-5CF822805F4D}"/>
          </ac:spMkLst>
        </pc:spChg>
        <pc:spChg chg="mod">
          <ac:chgData name="Renato Ferreira Magalhães" userId="83bba0de-9183-469f-bc71-1daf841d6ed3" providerId="ADAL" clId="{972D05CE-6078-4A56-9A08-2F04D049B41A}" dt="2026-01-06T21:31:01.041" v="954" actId="114"/>
          <ac:spMkLst>
            <pc:docMk/>
            <pc:sldMk cId="3610838255" sldId="275"/>
            <ac:spMk id="10" creationId="{EEC76000-362B-E9A3-9CEF-A02CBC826850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31:26.375" v="955" actId="114"/>
        <pc:sldMkLst>
          <pc:docMk/>
          <pc:sldMk cId="480411862" sldId="277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480411862" sldId="277"/>
            <ac:spMk id="2" creationId="{7B850B54-A418-0EF3-96F3-E223780279CE}"/>
          </ac:spMkLst>
        </pc:spChg>
        <pc:spChg chg="mod">
          <ac:chgData name="Renato Ferreira Magalhães" userId="83bba0de-9183-469f-bc71-1daf841d6ed3" providerId="ADAL" clId="{972D05CE-6078-4A56-9A08-2F04D049B41A}" dt="2026-01-06T21:31:26.375" v="955" actId="114"/>
          <ac:spMkLst>
            <pc:docMk/>
            <pc:sldMk cId="480411862" sldId="277"/>
            <ac:spMk id="4" creationId="{B427F08E-3BE6-7679-05FE-F1EE3BEDED96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480411862" sldId="277"/>
            <ac:spMk id="5" creationId="{504A57F9-703F-FF9B-160B-F82F48D2DB57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480411862" sldId="277"/>
            <ac:spMk id="6" creationId="{8DDE171F-35B7-1EE4-70AA-81B8E2C48407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19:39.391" v="879" actId="20577"/>
        <pc:sldMkLst>
          <pc:docMk/>
          <pc:sldMk cId="1052804007" sldId="278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052804007" sldId="278"/>
            <ac:spMk id="2" creationId="{84B7072C-F026-95EC-FF24-409F8E6FFA5E}"/>
          </ac:spMkLst>
        </pc:spChg>
        <pc:spChg chg="mod">
          <ac:chgData name="Renato Ferreira Magalhães" userId="83bba0de-9183-469f-bc71-1daf841d6ed3" providerId="ADAL" clId="{972D05CE-6078-4A56-9A08-2F04D049B41A}" dt="2026-01-06T21:19:39.391" v="879" actId="20577"/>
          <ac:spMkLst>
            <pc:docMk/>
            <pc:sldMk cId="1052804007" sldId="278"/>
            <ac:spMk id="4" creationId="{2E93FC50-2C5B-ADD0-EC12-5572EA4F0FA0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052804007" sldId="278"/>
            <ac:spMk id="5" creationId="{365FA21D-D9C4-3605-381C-39E102918227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052804007" sldId="278"/>
            <ac:spMk id="6" creationId="{C8DAF7AD-606E-3339-55D6-5221219099EE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31:51.022" v="958" actId="114"/>
        <pc:sldMkLst>
          <pc:docMk/>
          <pc:sldMk cId="1313940269" sldId="281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313940269" sldId="281"/>
            <ac:spMk id="2" creationId="{80E86AD5-0BE2-5F40-79BB-80DEFCAB0233}"/>
          </ac:spMkLst>
        </pc:spChg>
        <pc:spChg chg="mod">
          <ac:chgData name="Renato Ferreira Magalhães" userId="83bba0de-9183-469f-bc71-1daf841d6ed3" providerId="ADAL" clId="{972D05CE-6078-4A56-9A08-2F04D049B41A}" dt="2026-01-06T21:31:51.022" v="958" actId="114"/>
          <ac:spMkLst>
            <pc:docMk/>
            <pc:sldMk cId="1313940269" sldId="281"/>
            <ac:spMk id="4" creationId="{48F3A2E2-B2B4-B4A6-123A-6369F73062AE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313940269" sldId="281"/>
            <ac:spMk id="5" creationId="{BB6C0B7F-67B3-8A05-DA19-42793F540FCA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313940269" sldId="281"/>
            <ac:spMk id="6" creationId="{A2C7BC27-57D1-0523-7BA3-6742AA01C03C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33:16.286" v="972" actId="20577"/>
        <pc:sldMkLst>
          <pc:docMk/>
          <pc:sldMk cId="1077818972" sldId="282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077818972" sldId="282"/>
            <ac:spMk id="2" creationId="{7D8F70BF-8657-F4AE-49EB-F613FD5A576A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077818972" sldId="282"/>
            <ac:spMk id="5" creationId="{1F21B7E4-F985-ECD2-CD29-301808C461E9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077818972" sldId="282"/>
            <ac:spMk id="6" creationId="{0CC1EB7D-9D91-342A-ED21-FC41321A1E83}"/>
          </ac:spMkLst>
        </pc:spChg>
        <pc:spChg chg="mod">
          <ac:chgData name="Renato Ferreira Magalhães" userId="83bba0de-9183-469f-bc71-1daf841d6ed3" providerId="ADAL" clId="{972D05CE-6078-4A56-9A08-2F04D049B41A}" dt="2026-01-06T21:33:16.286" v="972" actId="20577"/>
          <ac:spMkLst>
            <pc:docMk/>
            <pc:sldMk cId="1077818972" sldId="282"/>
            <ac:spMk id="8" creationId="{4260E8BC-C58F-1941-D962-525E2486F7F3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0:49:30.767" v="275" actId="790"/>
        <pc:sldMkLst>
          <pc:docMk/>
          <pc:sldMk cId="2522991150" sldId="283"/>
        </pc:sldMkLst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522991150" sldId="283"/>
            <ac:spMk id="2" creationId="{E22ABD0E-035C-81A4-65F8-E5E3A37E703C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522991150" sldId="283"/>
            <ac:spMk id="5" creationId="{1E7B6689-402F-84B7-0853-F557F6A5E17C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2522991150" sldId="283"/>
            <ac:spMk id="6" creationId="{00C6735C-D4EC-C8C4-EA5C-FC5B09DD6425}"/>
          </ac:spMkLst>
        </pc:spChg>
      </pc:sldChg>
      <pc:sldChg chg="modSp mod">
        <pc:chgData name="Renato Ferreira Magalhães" userId="83bba0de-9183-469f-bc71-1daf841d6ed3" providerId="ADAL" clId="{972D05CE-6078-4A56-9A08-2F04D049B41A}" dt="2026-01-06T21:17:13.454" v="813" actId="20577"/>
        <pc:sldMkLst>
          <pc:docMk/>
          <pc:sldMk cId="186471816" sldId="284"/>
        </pc:sldMkLst>
        <pc:spChg chg="mod">
          <ac:chgData name="Renato Ferreira Magalhães" userId="83bba0de-9183-469f-bc71-1daf841d6ed3" providerId="ADAL" clId="{972D05CE-6078-4A56-9A08-2F04D049B41A}" dt="2026-01-06T21:17:13.454" v="813" actId="20577"/>
          <ac:spMkLst>
            <pc:docMk/>
            <pc:sldMk cId="186471816" sldId="284"/>
            <ac:spMk id="2" creationId="{EB8BCB56-2B4B-FFD3-9511-8C92849CA52C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86471816" sldId="284"/>
            <ac:spMk id="5" creationId="{3907D18E-53C3-2991-B799-C9FF728DB834}"/>
          </ac:spMkLst>
        </pc:spChg>
        <pc:spChg chg="mod">
          <ac:chgData name="Renato Ferreira Magalhães" userId="83bba0de-9183-469f-bc71-1daf841d6ed3" providerId="ADAL" clId="{972D05CE-6078-4A56-9A08-2F04D049B41A}" dt="2026-01-06T20:49:30.767" v="275" actId="790"/>
          <ac:spMkLst>
            <pc:docMk/>
            <pc:sldMk cId="186471816" sldId="284"/>
            <ac:spMk id="6" creationId="{8779AAE5-507E-3456-8D95-48AA8578B930}"/>
          </ac:spMkLst>
        </pc:spChg>
      </pc:sldChg>
      <pc:sldChg chg="addSp delSp modSp add mod">
        <pc:chgData name="Renato Ferreira Magalhães" userId="83bba0de-9183-469f-bc71-1daf841d6ed3" providerId="ADAL" clId="{972D05CE-6078-4A56-9A08-2F04D049B41A}" dt="2026-01-06T21:27:39.714" v="917" actId="14100"/>
        <pc:sldMkLst>
          <pc:docMk/>
          <pc:sldMk cId="3799326191" sldId="285"/>
        </pc:sldMkLst>
        <pc:spChg chg="mod">
          <ac:chgData name="Renato Ferreira Magalhães" userId="83bba0de-9183-469f-bc71-1daf841d6ed3" providerId="ADAL" clId="{972D05CE-6078-4A56-9A08-2F04D049B41A}" dt="2026-01-06T20:56:20.110" v="303" actId="20577"/>
          <ac:spMkLst>
            <pc:docMk/>
            <pc:sldMk cId="3799326191" sldId="285"/>
            <ac:spMk id="6" creationId="{3CCD085B-911F-87A4-1029-638040E4D4B7}"/>
          </ac:spMkLst>
        </pc:spChg>
        <pc:spChg chg="mod">
          <ac:chgData name="Renato Ferreira Magalhães" userId="83bba0de-9183-469f-bc71-1daf841d6ed3" providerId="ADAL" clId="{972D05CE-6078-4A56-9A08-2F04D049B41A}" dt="2026-01-06T21:27:39.714" v="917" actId="14100"/>
          <ac:spMkLst>
            <pc:docMk/>
            <pc:sldMk cId="3799326191" sldId="285"/>
            <ac:spMk id="8" creationId="{DC468EEF-887D-A49C-56EE-2FBB1F0F56A4}"/>
          </ac:spMkLst>
        </pc:spChg>
        <pc:graphicFrameChg chg="add mod">
          <ac:chgData name="Renato Ferreira Magalhães" userId="83bba0de-9183-469f-bc71-1daf841d6ed3" providerId="ADAL" clId="{972D05CE-6078-4A56-9A08-2F04D049B41A}" dt="2026-01-06T20:53:59.074" v="278"/>
          <ac:graphicFrameMkLst>
            <pc:docMk/>
            <pc:sldMk cId="3799326191" sldId="285"/>
            <ac:graphicFrameMk id="3" creationId="{4130060D-F62B-20A1-3967-AB583E1E7AF8}"/>
          </ac:graphicFrameMkLst>
        </pc:graphicFrameChg>
        <pc:graphicFrameChg chg="add del mod">
          <ac:chgData name="Renato Ferreira Magalhães" userId="83bba0de-9183-469f-bc71-1daf841d6ed3" providerId="ADAL" clId="{972D05CE-6078-4A56-9A08-2F04D049B41A}" dt="2026-01-06T20:54:12.247" v="281" actId="478"/>
          <ac:graphicFrameMkLst>
            <pc:docMk/>
            <pc:sldMk cId="3799326191" sldId="285"/>
            <ac:graphicFrameMk id="4" creationId="{F370D9FA-FAB0-81EF-D779-D44CA020DF57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5CFF4805-F831-2EF4-84D5-E1477244D9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56E117E-4F65-EE4A-F271-51902F21A7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DAA3E-6733-4045-9A7F-828DE295C79D}" type="datetimeFigureOut">
              <a:rPr lang="pt-PT" smtClean="0"/>
              <a:t>06/01/2026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8D1ABE09-2446-3FEA-2CA3-B704F7C161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962CCA9-DD97-A4ED-D6DC-BE88D621A8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3D5DF-1514-FF4F-8429-866121A18AE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5651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CF91E-A161-D446-84EB-B44586E14DF5}" type="datetimeFigureOut">
              <a:rPr lang="pt-PT" smtClean="0"/>
              <a:t>06/01/2026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43217-6237-6F4B-B863-CD4DEAF8B48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722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bertur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m texto, ClipArt, gráficos de vetor&#10;&#10;Descrição gerada automaticamente">
            <a:extLst>
              <a:ext uri="{FF2B5EF4-FFF2-40B4-BE49-F238E27FC236}">
                <a16:creationId xmlns:a16="http://schemas.microsoft.com/office/drawing/2014/main" id="{F9B9E2B7-C678-EEAB-4A28-DE231203C4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bertur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06DFE18B-40D5-1C2C-E160-15A4C4420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FD74A0-B0CA-444B-9BD0-EF67B043F227}" type="slidenum">
              <a:rPr lang="pt-PT" smtClean="0"/>
              <a:pPr/>
              <a:t>‹#›</a:t>
            </a:fld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55069E-4ABD-D767-6853-D2E718E276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60ADD5-C66D-01EB-06A6-252AD8B25B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87158" y="3721028"/>
            <a:ext cx="7200000" cy="28800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5000" b="0">
                <a:solidFill>
                  <a:srgbClr val="9A1A24"/>
                </a:solidFill>
              </a:defRPr>
            </a:lvl1pPr>
          </a:lstStyle>
          <a:p>
            <a:r>
              <a:rPr lang="pt-PT" dirty="0"/>
              <a:t>Título</a:t>
            </a:r>
            <a:br>
              <a:rPr lang="pt-PT" dirty="0"/>
            </a:br>
            <a:r>
              <a:rPr lang="pt-PT" dirty="0"/>
              <a:t>Título</a:t>
            </a:r>
            <a:br>
              <a:rPr lang="pt-PT" dirty="0"/>
            </a:br>
            <a:r>
              <a:rPr lang="pt-PT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59472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o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1392BAC-635F-7496-A624-E8F12F58E9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8E85FE51-0CDA-C1D3-FB0D-EAD0413F88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429" y="374514"/>
            <a:ext cx="11160000" cy="7200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5000">
                <a:solidFill>
                  <a:srgbClr val="9A1A24"/>
                </a:solidFill>
              </a:defRPr>
            </a:lvl1pPr>
          </a:lstStyle>
          <a:p>
            <a:r>
              <a:rPr lang="pt-PT" dirty="0"/>
              <a:t>Título</a:t>
            </a:r>
            <a:br>
              <a:rPr lang="pt-PT" dirty="0"/>
            </a:br>
            <a:endParaRPr lang="pt-PT" dirty="0"/>
          </a:p>
        </p:txBody>
      </p:sp>
      <p:sp>
        <p:nvSpPr>
          <p:cNvPr id="19" name="Marcador de Posição do Texto 3">
            <a:extLst>
              <a:ext uri="{FF2B5EF4-FFF2-40B4-BE49-F238E27FC236}">
                <a16:creationId xmlns:a16="http://schemas.microsoft.com/office/drawing/2014/main" id="{8590D4D6-D72F-98C0-EB76-27CFAEFA5A1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1429" y="1114857"/>
            <a:ext cx="1116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>
                <a:solidFill>
                  <a:srgbClr val="9A1A2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Subtítulo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83C3DE0-112A-A67C-3A54-F2E2B266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D74A0-B0CA-444B-9BD0-EF67B043F227}" type="slidenum">
              <a:rPr lang="pt-PT" smtClean="0"/>
              <a:pPr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08633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o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A72FDD4-6172-F4BB-3C30-5D205B6521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8E85FE51-0CDA-C1D3-FB0D-EAD0413F88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429" y="374514"/>
            <a:ext cx="11160000" cy="7200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5000">
                <a:solidFill>
                  <a:srgbClr val="9A1A24"/>
                </a:solidFill>
              </a:defRPr>
            </a:lvl1pPr>
          </a:lstStyle>
          <a:p>
            <a:r>
              <a:rPr lang="pt-PT" dirty="0"/>
              <a:t>Título</a:t>
            </a:r>
            <a:br>
              <a:rPr lang="pt-PT" dirty="0"/>
            </a:br>
            <a:endParaRPr lang="pt-PT" dirty="0"/>
          </a:p>
        </p:txBody>
      </p:sp>
      <p:sp>
        <p:nvSpPr>
          <p:cNvPr id="19" name="Marcador de Posição do Texto 3">
            <a:extLst>
              <a:ext uri="{FF2B5EF4-FFF2-40B4-BE49-F238E27FC236}">
                <a16:creationId xmlns:a16="http://schemas.microsoft.com/office/drawing/2014/main" id="{8590D4D6-D72F-98C0-EB76-27CFAEFA5A1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1429" y="1114860"/>
            <a:ext cx="1116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 i="0">
                <a:solidFill>
                  <a:srgbClr val="9A1A2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Subtítulo</a:t>
            </a:r>
          </a:p>
        </p:txBody>
      </p:sp>
      <p:sp>
        <p:nvSpPr>
          <p:cNvPr id="2" name="Marcador de Posição do Texto 3">
            <a:extLst>
              <a:ext uri="{FF2B5EF4-FFF2-40B4-BE49-F238E27FC236}">
                <a16:creationId xmlns:a16="http://schemas.microsoft.com/office/drawing/2014/main" id="{7B91F619-EBC8-FBF2-2169-56B891CD881E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91429" y="1908000"/>
            <a:ext cx="1116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>
                <a:solidFill>
                  <a:srgbClr val="A5ACB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Nível 1</a:t>
            </a:r>
          </a:p>
        </p:txBody>
      </p:sp>
      <p:sp>
        <p:nvSpPr>
          <p:cNvPr id="3" name="Marcador de Posição do Texto 3">
            <a:extLst>
              <a:ext uri="{FF2B5EF4-FFF2-40B4-BE49-F238E27FC236}">
                <a16:creationId xmlns:a16="http://schemas.microsoft.com/office/drawing/2014/main" id="{0410BFC6-A19B-8F61-0E9C-EEE7D281A9BE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491429" y="2445029"/>
            <a:ext cx="1116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>
                <a:solidFill>
                  <a:srgbClr val="A5ACB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Nível 2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D28F95E-8A07-038B-0A0C-C6D369E2736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491429" y="2982058"/>
            <a:ext cx="1116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>
                <a:solidFill>
                  <a:srgbClr val="A5ACB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Nível 3</a:t>
            </a:r>
          </a:p>
        </p:txBody>
      </p:sp>
      <p:sp>
        <p:nvSpPr>
          <p:cNvPr id="5" name="Marcador de Posição do Texto 3">
            <a:extLst>
              <a:ext uri="{FF2B5EF4-FFF2-40B4-BE49-F238E27FC236}">
                <a16:creationId xmlns:a16="http://schemas.microsoft.com/office/drawing/2014/main" id="{F1E522B4-07FE-30CB-6575-2EC44CE5651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1429" y="3515943"/>
            <a:ext cx="1116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>
                <a:solidFill>
                  <a:srgbClr val="A5ACB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Nível 4</a:t>
            </a: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DB6B56A8-8DA3-D577-6815-3D975C8726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FD74A0-B0CA-444B-9BD0-EF67B043F227}" type="slidenum">
              <a:rPr lang="pt-PT" smtClean="0"/>
              <a:pPr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79577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o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2665D5-D709-08B3-2AB5-CAE431F71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Marcador de Posição do Texto 3">
            <a:extLst>
              <a:ext uri="{FF2B5EF4-FFF2-40B4-BE49-F238E27FC236}">
                <a16:creationId xmlns:a16="http://schemas.microsoft.com/office/drawing/2014/main" id="{8590D4D6-D72F-98C0-EB76-27CFAEFA5A1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1429" y="1114860"/>
            <a:ext cx="1116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>
                <a:solidFill>
                  <a:srgbClr val="9A1A2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Subtítulo</a:t>
            </a:r>
          </a:p>
        </p:txBody>
      </p:sp>
      <p:sp>
        <p:nvSpPr>
          <p:cNvPr id="2" name="Marcador de Posição do Texto 3">
            <a:extLst>
              <a:ext uri="{FF2B5EF4-FFF2-40B4-BE49-F238E27FC236}">
                <a16:creationId xmlns:a16="http://schemas.microsoft.com/office/drawing/2014/main" id="{7B91F619-EBC8-FBF2-2169-56B891CD881E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91429" y="1908000"/>
            <a:ext cx="5400000" cy="43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Inserir texto</a:t>
            </a:r>
          </a:p>
        </p:txBody>
      </p:sp>
      <p:sp>
        <p:nvSpPr>
          <p:cNvPr id="7" name="Marcador de Posição do Texto 3">
            <a:extLst>
              <a:ext uri="{FF2B5EF4-FFF2-40B4-BE49-F238E27FC236}">
                <a16:creationId xmlns:a16="http://schemas.microsoft.com/office/drawing/2014/main" id="{7DCD7AEE-019F-339B-D50B-A825437D5DF2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51429" y="1908000"/>
            <a:ext cx="5400000" cy="432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5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dirty="0"/>
              <a:t>Inserir texto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3BC1A4A-9D2C-AA23-CBC9-1F12ED8747E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smtClean="0"/>
              <a:pPr/>
              <a:t>‹#›</a:t>
            </a:fld>
            <a:endParaRPr lang="pt-PT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4CCD065-AB11-6474-CC66-629E55A190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429" y="374514"/>
            <a:ext cx="11160000" cy="7200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5000">
                <a:solidFill>
                  <a:srgbClr val="9A1A24"/>
                </a:solidFill>
              </a:defRPr>
            </a:lvl1pPr>
          </a:lstStyle>
          <a:p>
            <a:r>
              <a:rPr lang="pt-PT" dirty="0"/>
              <a:t>Título</a:t>
            </a:r>
            <a:br>
              <a:rPr lang="pt-PT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6300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ech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símbolo&#10;&#10;Descrição gerada automaticamente">
            <a:extLst>
              <a:ext uri="{FF2B5EF4-FFF2-40B4-BE49-F238E27FC236}">
                <a16:creationId xmlns:a16="http://schemas.microsoft.com/office/drawing/2014/main" id="{C9AC7D38-B61F-FDFC-FAB3-ABF0A2CF2C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3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ech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vermelho, símbolo&#10;&#10;Descrição gerada automaticamente">
            <a:extLst>
              <a:ext uri="{FF2B5EF4-FFF2-40B4-BE49-F238E27FC236}">
                <a16:creationId xmlns:a16="http://schemas.microsoft.com/office/drawing/2014/main" id="{BC4443A8-2C45-8C44-DDEA-A8EB2C713A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4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Posição do Número do Diapositivo 5">
            <a:extLst>
              <a:ext uri="{FF2B5EF4-FFF2-40B4-BE49-F238E27FC236}">
                <a16:creationId xmlns:a16="http://schemas.microsoft.com/office/drawing/2014/main" id="{03729E55-FE81-5FEF-98CB-71FA11CF0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2000" y="0"/>
            <a:ext cx="360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rgbClr val="9A1A24"/>
                </a:solidFill>
              </a:defRPr>
            </a:lvl1pPr>
          </a:lstStyle>
          <a:p>
            <a:fld id="{D7FD74A0-B0CA-444B-9BD0-EF67B043F227}" type="slidenum">
              <a:rPr lang="pt-PT" smtClean="0"/>
              <a:pPr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6381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4" r:id="rId2"/>
    <p:sldLayoutId id="2147483649" r:id="rId3"/>
    <p:sldLayoutId id="2147483662" r:id="rId4"/>
    <p:sldLayoutId id="2147483663" r:id="rId5"/>
    <p:sldLayoutId id="2147483653" r:id="rId6"/>
    <p:sldLayoutId id="2147483652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269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65AD47BA-EAB4-E317-6045-F158F0520B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2</a:t>
            </a:fld>
            <a:endParaRPr lang="pt-PT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0C28FC6-C98F-320B-B22E-13ED30BF9D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sz="2400" b="1" noProof="0" dirty="0" err="1"/>
              <a:t>Forest</a:t>
            </a:r>
            <a:r>
              <a:rPr lang="pt-PT" sz="2400" b="1" noProof="0" dirty="0"/>
              <a:t> </a:t>
            </a:r>
            <a:r>
              <a:rPr lang="pt-PT" sz="2400" b="1" noProof="0" dirty="0" err="1"/>
              <a:t>Bathing</a:t>
            </a:r>
            <a:r>
              <a:rPr lang="pt-PT" sz="2400" b="1" noProof="0" dirty="0"/>
              <a:t> in Virtual </a:t>
            </a:r>
            <a:r>
              <a:rPr lang="pt-PT" sz="2400" b="1" noProof="0" dirty="0" err="1"/>
              <a:t>Reality</a:t>
            </a:r>
            <a:r>
              <a:rPr lang="pt-PT" sz="2400" b="1" noProof="0" dirty="0"/>
              <a:t> as a </a:t>
            </a:r>
            <a:r>
              <a:rPr lang="pt-PT" sz="2400" b="1" noProof="0" dirty="0" err="1"/>
              <a:t>Mechanism</a:t>
            </a:r>
            <a:r>
              <a:rPr lang="pt-PT" sz="2400" b="1" noProof="0" dirty="0"/>
              <a:t> to </a:t>
            </a:r>
            <a:r>
              <a:rPr lang="pt-PT" sz="2400" b="1" noProof="0" dirty="0" err="1"/>
              <a:t>Reduce</a:t>
            </a:r>
            <a:r>
              <a:rPr lang="pt-PT" sz="2400" b="1" noProof="0" dirty="0"/>
              <a:t> </a:t>
            </a:r>
            <a:r>
              <a:rPr lang="pt-PT" sz="2400" b="1" noProof="0" dirty="0" err="1"/>
              <a:t>Burnout</a:t>
            </a:r>
            <a:r>
              <a:rPr lang="pt-PT" sz="2400" b="1" noProof="0" dirty="0"/>
              <a:t> in </a:t>
            </a:r>
            <a:r>
              <a:rPr lang="pt-PT" sz="2400" b="1" noProof="0" dirty="0" err="1"/>
              <a:t>Urban</a:t>
            </a:r>
            <a:r>
              <a:rPr lang="pt-PT" sz="2400" b="1" noProof="0" dirty="0"/>
              <a:t> </a:t>
            </a:r>
            <a:r>
              <a:rPr lang="pt-PT" sz="2400" b="1" noProof="0" dirty="0" err="1"/>
              <a:t>Professionals</a:t>
            </a:r>
            <a:br>
              <a:rPr lang="pt-PT" noProof="0" dirty="0"/>
            </a:br>
            <a:r>
              <a:rPr lang="pt-PT" sz="2000" noProof="0" dirty="0"/>
              <a:t>PREPD – MEI 2025/26</a:t>
            </a:r>
            <a:br>
              <a:rPr lang="pt-PT" sz="2000" noProof="0" dirty="0"/>
            </a:br>
            <a:br>
              <a:rPr lang="pt-PT" sz="2000" noProof="0" dirty="0"/>
            </a:br>
            <a:br>
              <a:rPr lang="pt-PT" sz="2000" noProof="0" dirty="0"/>
            </a:br>
            <a:r>
              <a:rPr lang="pt-PT" sz="2000" noProof="0" dirty="0"/>
              <a:t>Aluno: Renato Ferreira Magalhães – 1240605</a:t>
            </a:r>
            <a:br>
              <a:rPr lang="pt-PT" sz="2000" noProof="0" dirty="0"/>
            </a:br>
            <a:r>
              <a:rPr lang="pt-PT" sz="2000" noProof="0" dirty="0"/>
              <a:t>Orientadora: Dra. Paula Escudeiro</a:t>
            </a:r>
            <a:br>
              <a:rPr lang="pt-PT" sz="2000" noProof="0" dirty="0"/>
            </a:br>
            <a:br>
              <a:rPr lang="pt-PT" sz="2000" noProof="0" dirty="0"/>
            </a:br>
            <a:r>
              <a:rPr lang="pt-PT" sz="2000" noProof="0" dirty="0"/>
              <a:t>					</a:t>
            </a:r>
            <a:r>
              <a:rPr lang="pt-PT" sz="1600" noProof="0" dirty="0"/>
              <a:t>Porto, 15 Janeiro 2026</a:t>
            </a:r>
          </a:p>
        </p:txBody>
      </p:sp>
    </p:spTree>
    <p:extLst>
      <p:ext uri="{BB962C8B-B14F-4D97-AF65-F5344CB8AC3E}">
        <p14:creationId xmlns:p14="http://schemas.microsoft.com/office/powerpoint/2010/main" val="4212827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0EE9D0-4EC8-1936-62F3-E80E9D00D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958E48-66AE-5D0E-82BA-AA9A614B1DA4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9" y="1908000"/>
            <a:ext cx="11160000" cy="432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Profissionais urbanos encontram-se expostos a níveis persistentes de stress e </a:t>
            </a:r>
            <a:r>
              <a:rPr lang="pt-PT" sz="2000" i="1" noProof="0" dirty="0" err="1"/>
              <a:t>burnout</a:t>
            </a:r>
            <a:r>
              <a:rPr lang="pt-PT" sz="2000" noProof="0" dirty="0"/>
              <a:t>, frequentemente associados a contextos de trabalho exigentes e a um acesso limitado a ambientes naturais com potencial restaurador.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Ambientes naturais estão associados à redução do stress, do afeto negativo e da pressão arterial, tanto em contextos físicos como em ambientes virtuais.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Experiências de natureza em realidade virtual permitem transportar ambientes restauradores para espaços interiores e integrá-los nas rotinas quotidianas, oferecendo uma alternativa viável em contextos urbanos com acesso reduzido à natureza.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6FD9F54-30BE-8592-3AD8-B4944CF131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3</a:t>
            </a:fld>
            <a:endParaRPr lang="pt-PT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39ACF7-809C-1EF4-4419-82F8C2CE00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Contexto e Motivação</a:t>
            </a:r>
            <a:br>
              <a:rPr lang="pt-PT" noProof="0" dirty="0"/>
            </a:b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92173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018C4-AB7C-3BD5-9BF2-6F9E8E187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9297D26C-253B-B8EE-C887-A7FFF1C7DB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4</a:t>
            </a:fld>
            <a:endParaRPr lang="pt-PT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861B012-1B52-15A9-9376-4A39CDD3E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Problema e Objetivo Geral</a:t>
            </a:r>
            <a:br>
              <a:rPr lang="pt-PT" noProof="0" dirty="0"/>
            </a:br>
            <a:endParaRPr lang="pt-PT" noProof="0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619605F-42C0-1546-4227-D1ED52A3E3BD}"/>
              </a:ext>
            </a:extLst>
          </p:cNvPr>
          <p:cNvSpPr txBox="1">
            <a:spLocks/>
          </p:cNvSpPr>
          <p:nvPr/>
        </p:nvSpPr>
        <p:spPr>
          <a:xfrm>
            <a:off x="851429" y="1908000"/>
            <a:ext cx="10800000" cy="43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5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noProof="0" dirty="0"/>
              <a:t>Problema</a:t>
            </a:r>
            <a:r>
              <a:rPr lang="pt-PT" sz="2000" noProof="0" dirty="0"/>
              <a:t>:</a:t>
            </a:r>
          </a:p>
          <a:p>
            <a:pPr lvl="1"/>
            <a:r>
              <a:rPr lang="pt-PT" sz="1600" dirty="0"/>
              <a:t>L</a:t>
            </a:r>
            <a:r>
              <a:rPr lang="pt-PT" sz="1600" noProof="0" dirty="0" err="1"/>
              <a:t>acuna</a:t>
            </a:r>
            <a:r>
              <a:rPr lang="pt-PT" sz="1600" noProof="0" dirty="0"/>
              <a:t> na disponibilidade de intervenções em realidade virtual acessíveis e personalizadas que repliquem os benefícios restauradores da natureza para trabalhadores urbanos expostos a elevados níveis de stress. </a:t>
            </a:r>
          </a:p>
          <a:p>
            <a:pPr lvl="1"/>
            <a:r>
              <a:rPr lang="pt-PT" sz="1600" noProof="0" dirty="0"/>
              <a:t>As abordagens disponíveis tendem a não se adaptar às respostas fisiológicas individuais nem a integrar-se de forma fluida nos contextos quotidianos de trabalho e vida urbana. </a:t>
            </a:r>
          </a:p>
          <a:p>
            <a:pPr lvl="1"/>
            <a:endParaRPr lang="pt-PT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Objetivo</a:t>
            </a:r>
            <a:r>
              <a:rPr lang="pt-PT" dirty="0"/>
              <a:t> geral:</a:t>
            </a:r>
          </a:p>
          <a:p>
            <a:pPr lvl="1"/>
            <a:r>
              <a:rPr lang="pt-PT" sz="1600" dirty="0"/>
              <a:t>Conceber, desenvolver e avaliar experimentalmente uma aplicação de </a:t>
            </a:r>
            <a:r>
              <a:rPr lang="pt-PT" sz="1600" i="1" dirty="0" err="1"/>
              <a:t>Forest</a:t>
            </a:r>
            <a:r>
              <a:rPr lang="pt-PT" sz="1600" dirty="0"/>
              <a:t> </a:t>
            </a:r>
            <a:r>
              <a:rPr lang="pt-PT" sz="1600" i="1" dirty="0" err="1"/>
              <a:t>Bathing</a:t>
            </a:r>
            <a:r>
              <a:rPr lang="pt-PT" sz="1600" dirty="0"/>
              <a:t> em realidade virtual, com e sem </a:t>
            </a:r>
            <a:r>
              <a:rPr lang="pt-PT" sz="1600" i="1" dirty="0" err="1"/>
              <a:t>biofeedback</a:t>
            </a:r>
            <a:r>
              <a:rPr lang="pt-PT" sz="1600" dirty="0"/>
              <a:t> fisiológico, como mecanismo de redução do stress e do </a:t>
            </a:r>
            <a:r>
              <a:rPr lang="pt-PT" sz="1600" i="1" dirty="0" err="1"/>
              <a:t>burnout</a:t>
            </a:r>
            <a:r>
              <a:rPr lang="pt-PT" sz="1600" dirty="0"/>
              <a:t> em adultos expostos a </a:t>
            </a:r>
            <a:r>
              <a:rPr lang="pt-PT" sz="1600" dirty="0" err="1"/>
              <a:t>stressores</a:t>
            </a:r>
            <a:r>
              <a:rPr lang="pt-PT" sz="1600" dirty="0"/>
              <a:t> urbanos.</a:t>
            </a:r>
          </a:p>
          <a:p>
            <a:pPr lvl="1"/>
            <a:endParaRPr lang="pt-PT" sz="1600" noProof="0" dirty="0"/>
          </a:p>
        </p:txBody>
      </p:sp>
    </p:spTree>
    <p:extLst>
      <p:ext uri="{BB962C8B-B14F-4D97-AF65-F5344CB8AC3E}">
        <p14:creationId xmlns:p14="http://schemas.microsoft.com/office/powerpoint/2010/main" val="302510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72B39BA7-69C1-9D7B-633C-110CF01E2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376935E-D85C-B3FB-AD7F-E10B2776038E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RQ1:</a:t>
            </a:r>
          </a:p>
          <a:p>
            <a:pPr lvl="1"/>
            <a:r>
              <a:rPr lang="pt-PT" sz="1600" noProof="0" dirty="0"/>
              <a:t>Em que medida uma intervenção de </a:t>
            </a:r>
            <a:r>
              <a:rPr lang="pt-PT" sz="1600" i="1" noProof="0" dirty="0" err="1"/>
              <a:t>Forest</a:t>
            </a:r>
            <a:r>
              <a:rPr lang="pt-PT" sz="1600" i="1" noProof="0" dirty="0"/>
              <a:t> </a:t>
            </a:r>
            <a:r>
              <a:rPr lang="pt-PT" sz="1600" i="1" noProof="0" dirty="0" err="1"/>
              <a:t>Bathing</a:t>
            </a:r>
            <a:r>
              <a:rPr lang="pt-PT" sz="1600" i="1" noProof="0" dirty="0"/>
              <a:t> </a:t>
            </a:r>
            <a:r>
              <a:rPr lang="pt-PT" sz="1600" noProof="0" dirty="0"/>
              <a:t>em realidade virtual, baseada na exposição à natureza, conduz a reduções de curto prazo nos indicadores subjetivos e fisiológicos de stress, em comparação com condições alternativas de relaxamento digital?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RQ2:</a:t>
            </a:r>
          </a:p>
          <a:p>
            <a:pPr lvl="1"/>
            <a:r>
              <a:rPr lang="pt-PT" sz="1600" noProof="0" dirty="0"/>
              <a:t>De que forma a integração de </a:t>
            </a:r>
            <a:r>
              <a:rPr lang="pt-PT" sz="1600" i="1" noProof="0" dirty="0" err="1"/>
              <a:t>biofeedback</a:t>
            </a:r>
            <a:r>
              <a:rPr lang="pt-PT" sz="1600" noProof="0" dirty="0"/>
              <a:t> fisiológico em tempo real influencia os resultados relacionados com o stress durante a intervenção de </a:t>
            </a:r>
            <a:r>
              <a:rPr lang="pt-PT" sz="1600" i="1" noProof="0" dirty="0" err="1"/>
              <a:t>Forest</a:t>
            </a:r>
            <a:r>
              <a:rPr lang="pt-PT" sz="1600" i="1" noProof="0" dirty="0"/>
              <a:t> </a:t>
            </a:r>
            <a:r>
              <a:rPr lang="pt-PT" sz="1600" i="1" noProof="0" dirty="0" err="1"/>
              <a:t>Bathing</a:t>
            </a:r>
            <a:r>
              <a:rPr lang="pt-PT" sz="1600" i="1" noProof="0" dirty="0"/>
              <a:t> </a:t>
            </a:r>
            <a:r>
              <a:rPr lang="pt-PT" sz="1600" noProof="0" dirty="0"/>
              <a:t>em realidade virtual?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1800" noProof="0" dirty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EA5AF2C-DEA6-5B4A-9AB6-6E6CC39100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noProof="0" dirty="0"/>
              <a:t>Hipóteses(síntese):</a:t>
            </a:r>
          </a:p>
          <a:p>
            <a:pPr lvl="1"/>
            <a:r>
              <a:rPr lang="pt-PT" sz="1600" noProof="0" dirty="0"/>
              <a:t>A intervenção de </a:t>
            </a:r>
            <a:r>
              <a:rPr lang="pt-PT" sz="1600" i="1" noProof="0" dirty="0" err="1"/>
              <a:t>Forest</a:t>
            </a:r>
            <a:r>
              <a:rPr lang="pt-PT" sz="1600" i="1" noProof="0" dirty="0"/>
              <a:t> </a:t>
            </a:r>
            <a:r>
              <a:rPr lang="pt-PT" sz="1600" i="1" noProof="0" dirty="0" err="1"/>
              <a:t>Bathing</a:t>
            </a:r>
            <a:r>
              <a:rPr lang="pt-PT" sz="1600" i="1" noProof="0" dirty="0"/>
              <a:t> </a:t>
            </a:r>
            <a:r>
              <a:rPr lang="pt-PT" sz="1600" noProof="0" dirty="0"/>
              <a:t>em realidade virtual, com e sem </a:t>
            </a:r>
            <a:r>
              <a:rPr lang="pt-PT" sz="1600" i="1" noProof="0" dirty="0" err="1"/>
              <a:t>biofeedback</a:t>
            </a:r>
            <a:r>
              <a:rPr lang="pt-PT" sz="1600" noProof="0" dirty="0"/>
              <a:t>, conduzirá a uma redução do stress subjetivo e fisiológico. A integração de </a:t>
            </a:r>
            <a:r>
              <a:rPr lang="pt-PT" sz="1600" i="1" noProof="0" dirty="0" err="1"/>
              <a:t>biofeedback</a:t>
            </a:r>
            <a:r>
              <a:rPr lang="pt-PT" sz="1600" noProof="0" dirty="0"/>
              <a:t> potenciará estes efeitos, e as melhorias no stress subjetivo estarão associadas a aumentos da variabilidade da frequência cardíaca, medida através do RMSSD.</a:t>
            </a:r>
            <a:endParaRPr lang="pt-PT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FEC5D7A-9576-6EC9-AABC-7E4B5573953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5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4A1FE62-D7CA-6FE1-6DBF-2408AA4D10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Questões de Investigação e Hipóteses</a:t>
            </a:r>
            <a:br>
              <a:rPr lang="pt-PT" noProof="0" dirty="0"/>
            </a:b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24360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77D0-457B-C852-2722-7391948F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ADEACAED-FFAD-5C5E-8B89-AE4E6BC3F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80EC57B-F2AB-9D32-0CA3-DBD1BA7025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6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78A7F15-4A52-DD4A-96BB-059CD8680C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Estado da Arte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4AC985-62AF-3E97-5F17-DF38018621B4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8" y="1908000"/>
            <a:ext cx="11159999" cy="432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Mapeamento sistemático de 24 estudos empíricos publicados entre 2014 e 2025 na ACM Digital </a:t>
            </a:r>
            <a:r>
              <a:rPr lang="pt-PT" sz="2000" noProof="0" dirty="0" err="1"/>
              <a:t>Library</a:t>
            </a:r>
            <a:r>
              <a:rPr lang="pt-PT" sz="2000" noProof="0" dirty="0"/>
              <a:t> e no </a:t>
            </a:r>
            <a:r>
              <a:rPr lang="pt-PT" sz="2000" noProof="0" dirty="0" err="1"/>
              <a:t>PubMed</a:t>
            </a:r>
            <a:r>
              <a:rPr lang="pt-PT" sz="2000" noProof="0" dirty="0"/>
              <a:t>, com foco em natureza virtual, redução do stress e 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 evidência indica que ambientes naturais em realidade virtual e ambientes biofílicos apoiam a recuperação de curto prazo do stress e da ansiedade em populações adultas.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 investigação emergente explora a combinação de realidade virtual com 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 baseado na variabilidade da frequência cardíaca e na atividade </a:t>
            </a:r>
            <a:r>
              <a:rPr lang="pt-PT" sz="2000" noProof="0" dirty="0" err="1"/>
              <a:t>eletrodérmica</a:t>
            </a:r>
            <a:r>
              <a:rPr lang="pt-PT" sz="2000" noProof="0" dirty="0"/>
              <a:t> para regulação do stress. Ao mesmo tempo, permanece limitado o número de estudos especificamente direcionados ao </a:t>
            </a:r>
            <a:r>
              <a:rPr lang="pt-PT" sz="2000" i="1" noProof="0" dirty="0" err="1"/>
              <a:t>burnout</a:t>
            </a:r>
            <a:r>
              <a:rPr lang="pt-PT" sz="2000" noProof="0" dirty="0"/>
              <a:t> em profissionais urbanos e a intervenções no estilo de </a:t>
            </a:r>
            <a:r>
              <a:rPr lang="pt-PT" sz="2000" i="1" noProof="0" dirty="0" err="1"/>
              <a:t>Forest</a:t>
            </a:r>
            <a:r>
              <a:rPr lang="pt-PT" sz="2000" noProof="0" dirty="0"/>
              <a:t> </a:t>
            </a:r>
            <a:r>
              <a:rPr lang="pt-PT" sz="2000" i="1" noProof="0" dirty="0" err="1"/>
              <a:t>Bathing</a:t>
            </a:r>
            <a:r>
              <a:rPr lang="pt-PT" sz="2000" noProof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lvl="1"/>
            <a:r>
              <a:rPr lang="en-US" sz="1000" dirty="0"/>
              <a:t>								(Ding &amp; Chen, 2022; Masters et al., 2022; </a:t>
            </a:r>
            <a:r>
              <a:rPr lang="en-US" sz="1000" dirty="0" err="1"/>
              <a:t>Xiaoxue</a:t>
            </a:r>
            <a:r>
              <a:rPr lang="en-US" sz="1000" dirty="0"/>
              <a:t> &amp; Huang, 2024)</a:t>
            </a:r>
            <a:endParaRPr lang="pt-PT" sz="800" noProof="0" dirty="0"/>
          </a:p>
        </p:txBody>
      </p:sp>
    </p:spTree>
    <p:extLst>
      <p:ext uri="{BB962C8B-B14F-4D97-AF65-F5344CB8AC3E}">
        <p14:creationId xmlns:p14="http://schemas.microsoft.com/office/powerpoint/2010/main" val="410923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DED19-832F-07CE-6089-5E0BB4C2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7ABEB203-8D08-B9E0-164F-085A2900A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noProof="0" dirty="0"/>
              <a:t>Desenho do Estudo e Condições Experimentais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925C576-99A2-F925-B69D-1501157EFB4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7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51CAD79-2B36-FD9F-2FBF-E28ED39F6B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Metodologia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82FF20-7D9F-60D1-458F-C4821226155C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9" y="1908000"/>
            <a:ext cx="11160000" cy="432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Desenho experimental Intra sujeitos com avaliação pré e pós-intervenção. Cada participante é exposto a múltiplas condições de relaxamento, permitindo a comparação direta entre intervenções no mesmo indivíduo.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As condições incluem uma experiência de </a:t>
            </a:r>
            <a:r>
              <a:rPr lang="pt-PT" sz="2000" i="1" noProof="0" dirty="0" err="1"/>
              <a:t>Forest</a:t>
            </a:r>
            <a:r>
              <a:rPr lang="pt-PT" sz="2000" noProof="0" dirty="0"/>
              <a:t> </a:t>
            </a:r>
            <a:r>
              <a:rPr lang="pt-PT" sz="2000" i="1" noProof="0" dirty="0" err="1"/>
              <a:t>Bathing</a:t>
            </a:r>
            <a:r>
              <a:rPr lang="pt-PT" sz="2000" noProof="0" dirty="0"/>
              <a:t> em realidade virtual com 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 fisiológico em tempo real, uma experiência de </a:t>
            </a:r>
            <a:r>
              <a:rPr lang="pt-PT" sz="2000" i="1" noProof="0" dirty="0" err="1"/>
              <a:t>Forest</a:t>
            </a:r>
            <a:r>
              <a:rPr lang="pt-PT" sz="2000" noProof="0" dirty="0"/>
              <a:t> </a:t>
            </a:r>
            <a:r>
              <a:rPr lang="pt-PT" sz="2000" i="1" noProof="0" dirty="0" err="1"/>
              <a:t>Bathing</a:t>
            </a:r>
            <a:r>
              <a:rPr lang="pt-PT" sz="2000" noProof="0" dirty="0"/>
              <a:t> em realidade virtual sem 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, utilizando o mesmo ambiente mas sem adaptações dinâmicas, e pelo menos uma condição alternativa de relaxamento digital, como uma sessão de relaxamento guiado ou um ambiente sonoro. A diversidade de condições permite isolar os efeitos específicos da natureza virtual e do 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As medidas subjetivas e fisiológicas são recolhidas imediatamente antes e após cada condição, possibilitando a análise de alterações de curto prazo associadas a cada intervenção.</a:t>
            </a: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55233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9311-1E59-6D35-B6E0-78A085DF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3426FCF3-6AF6-D709-FBA8-AA0B81C2C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noProof="0" dirty="0"/>
              <a:t>Participantes e Medidas </a:t>
            </a:r>
            <a:r>
              <a:rPr lang="pt-PT" noProof="0" dirty="0" err="1"/>
              <a:t>Subjectivas</a:t>
            </a:r>
            <a:r>
              <a:rPr lang="pt-PT" noProof="0" dirty="0"/>
              <a:t> e </a:t>
            </a:r>
            <a:r>
              <a:rPr lang="pt-PT" noProof="0" dirty="0" err="1"/>
              <a:t>Fisiologicas</a:t>
            </a:r>
            <a:endParaRPr lang="pt-PT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AE55989-6369-0698-876E-963C073796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8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3ED78FE-0757-17C6-20D0-58DA3B076E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Metodologia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57DD38-D850-343F-9958-4663BB4FA4EE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noProof="0" dirty="0"/>
              <a:t>Participantes:</a:t>
            </a:r>
          </a:p>
          <a:p>
            <a:pPr lvl="1"/>
            <a:r>
              <a:rPr lang="pt-PT" noProof="0" dirty="0"/>
              <a:t>Adultos expostos a stress urbano ou relacionado com o trabalho, incluindo profissionais do conhecimento e estudantes universitários.</a:t>
            </a:r>
          </a:p>
          <a:p>
            <a:pPr lvl="1"/>
            <a:r>
              <a:rPr lang="pt-PT" noProof="0" dirty="0"/>
              <a:t>Dimensão </a:t>
            </a:r>
            <a:r>
              <a:rPr lang="pt-PT" noProof="0" dirty="0" err="1"/>
              <a:t>amostral</a:t>
            </a:r>
            <a:r>
              <a:rPr lang="pt-PT" noProof="0" dirty="0"/>
              <a:t> planeada: aproximadamente 25 a 30 participantes, com base em estudos prévios de redução do stress em realidade virtual e em critérios de viabilidade.</a:t>
            </a:r>
          </a:p>
          <a:p>
            <a:endParaRPr lang="pt-PT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EB5121-7B9F-96AE-6EA0-060B27B64572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noProof="0" dirty="0"/>
              <a:t>Medidas subjetivas:</a:t>
            </a:r>
          </a:p>
          <a:p>
            <a:pPr lvl="1"/>
            <a:r>
              <a:rPr lang="pt-PT" noProof="0" dirty="0"/>
              <a:t>Ansiedade estado, avaliada através do STAI-S, stress percebido e escalas de humor</a:t>
            </a:r>
            <a:r>
              <a:rPr lang="pt-PT" dirty="0"/>
              <a:t> (</a:t>
            </a:r>
            <a:r>
              <a:rPr lang="pt-PT" i="1" noProof="0" dirty="0" err="1"/>
              <a:t>Perceived</a:t>
            </a:r>
            <a:r>
              <a:rPr lang="pt-PT" noProof="0" dirty="0"/>
              <a:t> </a:t>
            </a:r>
            <a:r>
              <a:rPr lang="pt-PT" i="1" noProof="0" dirty="0" err="1"/>
              <a:t>Restorativeness</a:t>
            </a:r>
            <a:r>
              <a:rPr lang="pt-PT" noProof="0" dirty="0"/>
              <a:t> </a:t>
            </a:r>
            <a:r>
              <a:rPr lang="pt-PT" i="1" noProof="0" dirty="0" err="1"/>
              <a:t>Scale</a:t>
            </a:r>
            <a:r>
              <a:rPr lang="pt-PT" noProof="0" dirty="0"/>
              <a:t>, PRS).</a:t>
            </a:r>
          </a:p>
          <a:p>
            <a:pPr lvl="1"/>
            <a:endParaRPr lang="pt-PT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noProof="0" dirty="0"/>
              <a:t>Medidas fisiológicas:</a:t>
            </a:r>
          </a:p>
          <a:p>
            <a:pPr lvl="1"/>
            <a:r>
              <a:rPr lang="pt-PT" noProof="0" dirty="0"/>
              <a:t>Frequência cardíaca, HR, e variabilidade da frequência cardíaca, HRV, com ênfase no RMSSD.</a:t>
            </a:r>
            <a:br>
              <a:rPr lang="pt-PT" noProof="0" dirty="0"/>
            </a:br>
            <a:r>
              <a:rPr lang="pt-PT" noProof="0" dirty="0"/>
              <a:t>Atividade </a:t>
            </a:r>
            <a:r>
              <a:rPr lang="pt-PT" noProof="0" dirty="0" err="1"/>
              <a:t>eletrodérmica</a:t>
            </a:r>
            <a:r>
              <a:rPr lang="pt-PT" noProof="0" dirty="0"/>
              <a:t>, EDA, explorada como indicador adicional de ativação fisiológica.</a:t>
            </a:r>
          </a:p>
          <a:p>
            <a:pPr lvl="1"/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91144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E131-5FCD-89FD-3DD0-6C175B1B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0D03AAAE-84F1-D729-6959-C2A3DAE8E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noProof="0" dirty="0"/>
              <a:t>Desenho Proposto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08D3047-8EC9-ABCA-D1CB-0943404A4CB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9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E0A8244-A4F5-5C74-5B3A-5CF822805F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Aplicação </a:t>
            </a:r>
            <a:r>
              <a:rPr lang="pt-PT" noProof="0" dirty="0" err="1"/>
              <a:t>Forest</a:t>
            </a:r>
            <a:r>
              <a:rPr lang="pt-PT" noProof="0" dirty="0"/>
              <a:t> </a:t>
            </a:r>
            <a:r>
              <a:rPr lang="pt-PT" noProof="0" dirty="0" err="1"/>
              <a:t>Bathing</a:t>
            </a:r>
            <a:r>
              <a:rPr lang="pt-PT" noProof="0" dirty="0"/>
              <a:t> VR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EC76000-362B-E9A3-9CEF-A02CBC826850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9" y="1908000"/>
            <a:ext cx="11160000" cy="432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Ambientes naturais tridimensionais de alta qualidade (clareiras e trilhos florestais</a:t>
            </a:r>
            <a:r>
              <a:rPr lang="pt-PT" sz="2000" dirty="0"/>
              <a:t> com</a:t>
            </a:r>
            <a:r>
              <a:rPr lang="pt-PT" sz="2000" noProof="0" dirty="0"/>
              <a:t> paisagens sonoras espaciais).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I</a:t>
            </a:r>
            <a:r>
              <a:rPr lang="pt-PT" sz="2000" noProof="0" dirty="0" err="1"/>
              <a:t>nteração</a:t>
            </a:r>
            <a:r>
              <a:rPr lang="pt-PT" sz="2000" noProof="0" dirty="0"/>
              <a:t> simples de carácter contemplativo, priorizando a imersão e o relaxamento em detrimento do desempenho em tarefas.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Sensores fisiológicos</a:t>
            </a:r>
            <a:r>
              <a:rPr lang="pt-PT" sz="2000" dirty="0"/>
              <a:t> (</a:t>
            </a:r>
            <a:r>
              <a:rPr lang="pt-PT" sz="2000" noProof="0" dirty="0"/>
              <a:t>HRV e EDA) para monitorizar respostas de stress em tempo real.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Adaptação dinâmica de parâmetros ambientais, como luz, som e movimento, com base nos indicadores fisiológicos recolhidos (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Estado atual: </a:t>
            </a:r>
          </a:p>
          <a:p>
            <a:pPr lvl="1"/>
            <a:r>
              <a:rPr lang="pt-PT" sz="1600" dirty="0"/>
              <a:t>D</a:t>
            </a:r>
            <a:r>
              <a:rPr lang="pt-PT" sz="1600" noProof="0" dirty="0" err="1"/>
              <a:t>esenho</a:t>
            </a:r>
            <a:r>
              <a:rPr lang="pt-PT" sz="1600" noProof="0" dirty="0"/>
              <a:t> conceptual e requisitos definidos.</a:t>
            </a:r>
          </a:p>
          <a:p>
            <a:pPr lvl="1"/>
            <a:r>
              <a:rPr lang="pt-PT" sz="1600" noProof="0" dirty="0"/>
              <a:t>A implementação está planeada para a fase seguinte.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lvl="8"/>
            <a:r>
              <a:rPr lang="da-DK" dirty="0"/>
              <a:t>						(Nasri, 2025; Sehrt et al., 2022)</a:t>
            </a:r>
            <a:endParaRPr lang="pt-PT" sz="500" noProof="0" dirty="0"/>
          </a:p>
        </p:txBody>
      </p:sp>
    </p:spTree>
    <p:extLst>
      <p:ext uri="{BB962C8B-B14F-4D97-AF65-F5344CB8AC3E}">
        <p14:creationId xmlns:p14="http://schemas.microsoft.com/office/powerpoint/2010/main" val="3610838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58F2-1852-7D3D-88E6-C3630FB0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7B850B54-A418-0EF3-96F3-E22378027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noProof="0" dirty="0"/>
              <a:t>Plano de Trabalho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04A57F9-703F-FF9B-160B-F82F48D2DB5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10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DDE171F-35B7-1EE4-70AA-81B8E2C48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Gestão do Projeto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7F08E-3BE6-7679-05FE-F1EE3BEDED96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8" y="1908000"/>
            <a:ext cx="11159999" cy="432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 revisão da literatura concluída</a:t>
            </a:r>
            <a:r>
              <a:rPr lang="pt-PT" sz="2000" dirty="0"/>
              <a:t> (</a:t>
            </a:r>
            <a:r>
              <a:rPr lang="pt-PT" sz="2000" noProof="0" dirty="0"/>
              <a:t>mapeamento sistemático de 24 estudos empíricos).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 metodologia definida e documentada no Capítulo 3 – Metodologia</a:t>
            </a:r>
            <a:r>
              <a:rPr lang="pt-PT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dirty="0"/>
              <a:t>D</a:t>
            </a:r>
            <a:r>
              <a:rPr lang="pt-PT" noProof="0" dirty="0" err="1"/>
              <a:t>esenho</a:t>
            </a:r>
            <a:r>
              <a:rPr lang="pt-PT" noProof="0" dirty="0"/>
              <a:t> do estudo,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dirty="0"/>
              <a:t>M</a:t>
            </a:r>
            <a:r>
              <a:rPr lang="pt-PT" noProof="0" dirty="0" err="1"/>
              <a:t>edidas</a:t>
            </a:r>
            <a:r>
              <a:rPr lang="pt-PT" noProof="0" dirty="0"/>
              <a:t> (</a:t>
            </a:r>
            <a:r>
              <a:rPr lang="pt-PT" noProof="0" dirty="0" err="1"/>
              <a:t>objectivas</a:t>
            </a:r>
            <a:r>
              <a:rPr lang="pt-PT" noProof="0" dirty="0"/>
              <a:t> e subjetivas),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dirty="0"/>
              <a:t>P</a:t>
            </a:r>
            <a:r>
              <a:rPr lang="pt-PT" noProof="0" dirty="0" err="1"/>
              <a:t>rocedimento</a:t>
            </a:r>
            <a:r>
              <a:rPr lang="pt-PT" noProof="0" dirty="0"/>
              <a:t> experimental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dirty="0"/>
              <a:t>C</a:t>
            </a:r>
            <a:r>
              <a:rPr lang="pt-PT" noProof="0" dirty="0" err="1"/>
              <a:t>onsiderações</a:t>
            </a:r>
            <a:r>
              <a:rPr lang="pt-PT" noProof="0" dirty="0"/>
              <a:t> éticas.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 aplicação de realidade virtual e o sistema de 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 em fase de planeamento</a:t>
            </a:r>
            <a:r>
              <a:rPr lang="pt-PT" sz="2000" dirty="0"/>
              <a:t> (</a:t>
            </a:r>
            <a:r>
              <a:rPr lang="pt-PT" sz="2000" noProof="0" dirty="0"/>
              <a:t>implementação prevista para os próximos meses).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WBS e Gant </a:t>
            </a:r>
            <a:r>
              <a:rPr lang="pt-PT" sz="2000" noProof="0" dirty="0" err="1"/>
              <a:t>cont</a:t>
            </a:r>
            <a:r>
              <a:rPr lang="pt-PT" sz="2000" dirty="0" err="1"/>
              <a:t>ém</a:t>
            </a:r>
            <a:r>
              <a:rPr lang="pt-PT" sz="2000" dirty="0"/>
              <a:t> as</a:t>
            </a:r>
            <a:r>
              <a:rPr lang="pt-PT" sz="2000" noProof="0" dirty="0"/>
              <a:t> tarefas remanescentes incluindo: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noProof="0" dirty="0"/>
              <a:t>A implementação,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dirty="0"/>
              <a:t>O</a:t>
            </a:r>
            <a:r>
              <a:rPr lang="pt-PT" noProof="0" dirty="0"/>
              <a:t>s testes piloto,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dirty="0"/>
              <a:t>A</a:t>
            </a:r>
            <a:r>
              <a:rPr lang="pt-PT" noProof="0" dirty="0"/>
              <a:t> recolha de dados,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dirty="0"/>
              <a:t>A</a:t>
            </a:r>
            <a:r>
              <a:rPr lang="pt-PT" noProof="0" dirty="0"/>
              <a:t> análise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dirty="0"/>
              <a:t>E</a:t>
            </a:r>
            <a:r>
              <a:rPr lang="pt-PT" noProof="0" dirty="0"/>
              <a:t> a redação da dissertação</a:t>
            </a:r>
            <a:endParaRPr lang="pt-PT" dirty="0"/>
          </a:p>
          <a:p>
            <a:r>
              <a:rPr lang="pt-PT" sz="2000" dirty="0"/>
              <a:t> </a:t>
            </a:r>
            <a:endParaRPr lang="pt-PT" sz="2000" noProof="0" dirty="0"/>
          </a:p>
        </p:txBody>
      </p:sp>
    </p:spTree>
    <p:extLst>
      <p:ext uri="{BB962C8B-B14F-4D97-AF65-F5344CB8AC3E}">
        <p14:creationId xmlns:p14="http://schemas.microsoft.com/office/powerpoint/2010/main" val="480411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C1FB1-8C42-2017-45A0-AB0A0B92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E22ABD0E-035C-81A4-65F8-E5E3A37E7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noProof="0" dirty="0"/>
              <a:t>WBS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E7B6689-402F-84B7-0853-F557F6A5E1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11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0C6735C-D4EC-C8C4-EA5C-FC5B09DD64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Gestão do Projeto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8DC009-D3C7-DDE6-55FF-5A8DD4B3D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519" y="1753552"/>
            <a:ext cx="7340962" cy="4273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2991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4B1C1-40EF-676C-91BF-E3BF606C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EB8BCB56-2B4B-FFD3-9511-8C92849CA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noProof="0" dirty="0"/>
              <a:t>Diagrama de </a:t>
            </a:r>
            <a:r>
              <a:rPr lang="pt-PT" noProof="0" dirty="0" err="1"/>
              <a:t>Gantt</a:t>
            </a:r>
            <a:endParaRPr lang="pt-PT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907D18E-53C3-2991-B799-C9FF728DB83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12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779AAE5-507E-3456-8D95-48AA8578B9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Gestão do Projeto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E1AB2B-77B0-0B20-E034-80453D86A2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6" y="1968902"/>
            <a:ext cx="11847265" cy="37742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71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062C7-E1BD-C33E-10D8-33182804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84B7072C-F026-95EC-FF24-409F8E6FF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65FA21D-D9C4-3605-381C-39E1029182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13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8DAF7AD-606E-3339-55D6-5221219099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Considerações Éticas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3FC50-2C5B-ADD0-EC12-5572EA4F0FA0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8" y="1908000"/>
            <a:ext cx="11159999" cy="432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Conformidade com as orientações institucionais para investigação com participantes humanos e com o Regulamento Geral sobre a Proteção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Assegurar o consentimento informado, a anonimização dos dados fisiológicos e dos questionários, assim como os procedimentos de armazenamento seguro dos dados recolhidos.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Segurança em VR ao longo de todo o protocolo</a:t>
            </a:r>
            <a:r>
              <a:rPr lang="pt-PT" sz="2000" dirty="0"/>
              <a:t> (</a:t>
            </a:r>
            <a:r>
              <a:rPr lang="pt-PT" sz="2000" noProof="0" dirty="0"/>
              <a:t>monitorização de sintomas como </a:t>
            </a:r>
            <a:r>
              <a:rPr lang="en-US" sz="2000" dirty="0" err="1"/>
              <a:t>ciber-enjoo</a:t>
            </a:r>
            <a:r>
              <a:rPr lang="pt-PT" sz="2000" noProof="0" dirty="0"/>
              <a:t>, desconforto e fadiga)</a:t>
            </a:r>
            <a:r>
              <a:rPr lang="pt-PT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Possibilidade de os participantes interromperem a sessão a qualquer momento.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Garantir o</a:t>
            </a:r>
            <a:r>
              <a:rPr lang="pt-PT" sz="2000" noProof="0" dirty="0"/>
              <a:t> enquadramento ético do estudo com o Código de Ética da ACM, o Código de Ética do IEEE e o Código de Conduta do Instituto Politécnico do Porto.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lvl="1"/>
            <a:r>
              <a:rPr lang="pt-PT" sz="1000" dirty="0"/>
              <a:t>								(ACM, 2018; IEEE, 2020; P.PORTO, Código de Conduta Ética)</a:t>
            </a:r>
            <a:endParaRPr lang="pt-PT" sz="500" noProof="0" dirty="0"/>
          </a:p>
        </p:txBody>
      </p:sp>
    </p:spTree>
    <p:extLst>
      <p:ext uri="{BB962C8B-B14F-4D97-AF65-F5344CB8AC3E}">
        <p14:creationId xmlns:p14="http://schemas.microsoft.com/office/powerpoint/2010/main" val="1052804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1691D-ED2E-243E-6573-12003F00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80E86AD5-0BE2-5F40-79BB-80DEFCAB0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B6C0B7F-67B3-8A05-DA19-42793F540FC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14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2C7BC27-57D1-0523-7BA3-6742AA01C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3A2E2-B2B4-B4A6-123A-6369F73062A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8" y="1908000"/>
            <a:ext cx="11159999" cy="432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Finalizar a implementação da aplicação de </a:t>
            </a:r>
            <a:r>
              <a:rPr lang="pt-PT" sz="2000" i="1" noProof="0" dirty="0" err="1"/>
              <a:t>Forest</a:t>
            </a:r>
            <a:r>
              <a:rPr lang="pt-PT" sz="2000" noProof="0" dirty="0"/>
              <a:t> </a:t>
            </a:r>
            <a:r>
              <a:rPr lang="pt-PT" sz="2000" i="1" noProof="0" dirty="0" err="1"/>
              <a:t>Bathing</a:t>
            </a:r>
            <a:r>
              <a:rPr lang="pt-PT" sz="2000" noProof="0" dirty="0"/>
              <a:t> em realidade virtual e a integração do sistema de 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Realizar testes piloto com o objetivo de refinar o procedimento experimental, avaliar a usabilidade da aplicação e verificar a qualidade dos sinais fisiológicos recolhidos.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Recrutar os participantes e conduzir o estudo experimental completo de acordo com o protocolo definido.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Efetuar as análises estatísticas, incluindo </a:t>
            </a:r>
            <a:r>
              <a:rPr lang="pt-PT" sz="2000" noProof="0" dirty="0" err="1"/>
              <a:t>ANOVAs</a:t>
            </a:r>
            <a:r>
              <a:rPr lang="pt-PT" sz="2000" noProof="0" dirty="0"/>
              <a:t> de medidas repetidas e análises de correlação, e interpretar os resultados em relação ao estado da arte.</a:t>
            </a: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313940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704E-0FB1-F725-FD74-584D09DF1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7D8F70BF-8657-F4AE-49EB-F613FD5A5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F21B7E4-F985-ECD2-CD29-301808C461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15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CC1EB7D-9D91-342A-ED21-FC41321A1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Contribuições esperadas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60E8BC-C58F-1941-D962-525E2486F7F3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9" y="1908000"/>
            <a:ext cx="11160000" cy="432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Fornecer evidência empírica sobre os efeitos de curto prazo da intervenção de </a:t>
            </a:r>
            <a:r>
              <a:rPr lang="pt-PT" sz="2000" i="1" noProof="0" dirty="0" err="1"/>
              <a:t>Forest</a:t>
            </a:r>
            <a:r>
              <a:rPr lang="pt-PT" sz="2000" noProof="0" dirty="0"/>
              <a:t> </a:t>
            </a:r>
            <a:r>
              <a:rPr lang="pt-PT" sz="2000" i="1" noProof="0" dirty="0" err="1"/>
              <a:t>Bathing</a:t>
            </a:r>
            <a:r>
              <a:rPr lang="pt-PT" sz="2000" noProof="0" dirty="0"/>
              <a:t> em realidade virtual, com e sem </a:t>
            </a:r>
            <a:r>
              <a:rPr lang="pt-PT" sz="2000" i="1" noProof="0" dirty="0" err="1"/>
              <a:t>biofeedback</a:t>
            </a:r>
            <a:r>
              <a:rPr lang="pt-PT" sz="2000" noProof="0" dirty="0"/>
              <a:t>, em indicadores relacionados com o stress em profissionais urbanos.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Apresentar recomendações de design para intervenções personalizadas baseadas em natureza virtual, orientadas para a prevenção do stress e do </a:t>
            </a:r>
            <a:r>
              <a:rPr lang="pt-PT" sz="2000" i="1" noProof="0" dirty="0" err="1"/>
              <a:t>burnout</a:t>
            </a:r>
            <a:r>
              <a:rPr lang="pt-PT" sz="2000" noProof="0" dirty="0"/>
              <a:t> em contextos de trabalho e de saúde ocupacional.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Apoiar a integração de realidade virtual e de sensores fisiológicos nas linhas de investigação do GILT.</a:t>
            </a: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077818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02CA7-CD32-8AE3-4F4F-7ACC7C07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790A4307-51EB-46FA-1C6D-E6032C98B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3A9B7AC-F178-B1DE-2D22-FD97175151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7FD74A0-B0CA-444B-9BD0-EF67B043F227}" type="slidenum">
              <a:rPr lang="pt-PT" noProof="0" smtClean="0"/>
              <a:pPr/>
              <a:t>16</a:t>
            </a:fld>
            <a:endParaRPr lang="pt-PT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CCD085B-911F-87A4-1029-638040E4D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noProof="0" dirty="0"/>
              <a:t>Referências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468EEF-887D-A49C-56EE-2FBB1F0F56A4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491429" y="1908000"/>
            <a:ext cx="7613043" cy="4320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Ding, X., &amp; Chen, Y. (2022). Stress recovery effect of VR natural scenes with different immersion on knowledge workers.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Masters, R., Interrante, V., Watts, M., &amp; Ortega, F. (2022). Virtual nature and biomass in immersive VR Forest Bathing for stress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Xiaoxue</a:t>
            </a:r>
            <a:r>
              <a:rPr lang="en-US" sz="1800" dirty="0"/>
              <a:t>, S., &amp; Huang, X. (2024). Promoting stress and anxiety recovery with biophilic environments and outdoor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Nasri, M. (2025). Towards intelligent VR training: A physiological adaptation framework for cognitive load and stress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Zhang, J., Jiang, K., Wang, S., Ming, S., &amp; Wang, H. (2023). </a:t>
            </a:r>
            <a:r>
              <a:rPr lang="en-US" sz="1800" dirty="0" err="1"/>
              <a:t>Forestlight</a:t>
            </a:r>
            <a:r>
              <a:rPr lang="en-US" sz="1800" dirty="0"/>
              <a:t>: A VR respiratory biofeedback system for stress relief.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ACM (2018). ACM Code of Ethics and Professional Conduct.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IEEE (2020). IEEE Code of Ethics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799326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905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01498"/>
      </p:ext>
    </p:extLst>
  </p:cSld>
  <p:clrMapOvr>
    <a:masterClrMapping/>
  </p:clrMapOvr>
</p:sld>
</file>

<file path=ppt/theme/theme1.xml><?xml version="1.0" encoding="utf-8"?>
<a:theme xmlns:a="http://schemas.openxmlformats.org/drawingml/2006/main" name="Apresentação Instituci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ep_template_presentation" id="{76A24093-BC62-7547-95EE-3ADB044007AC}" vid="{3BA850C7-7FC8-C243-B0BF-0412F45368B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639E4646EB4B4D92C55B8F06C18991" ma:contentTypeVersion="13" ma:contentTypeDescription="Criar um novo documento." ma:contentTypeScope="" ma:versionID="6afba41c36b32b12c4f997eb6b208aa4">
  <xsd:schema xmlns:xsd="http://www.w3.org/2001/XMLSchema" xmlns:xs="http://www.w3.org/2001/XMLSchema" xmlns:p="http://schemas.microsoft.com/office/2006/metadata/properties" xmlns:ns2="cbf5b7ef-cb08-4883-8501-6a09caf69219" xmlns:ns3="17632157-d434-43c0-9850-02c0430cbda1" targetNamespace="http://schemas.microsoft.com/office/2006/metadata/properties" ma:root="true" ma:fieldsID="63b6f7def5cc4b9d165046389f94c400" ns2:_="" ns3:_="">
    <xsd:import namespace="cbf5b7ef-cb08-4883-8501-6a09caf69219"/>
    <xsd:import namespace="17632157-d434-43c0-9850-02c0430cbd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5b7ef-cb08-4883-8501-6a09caf692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abd39c20-4416-4a86-a41d-df69d8f2de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32157-d434-43c0-9850-02c0430cbda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28d33aa-ffa6-4a11-88f4-1ab032372f7b}" ma:internalName="TaxCatchAll" ma:showField="CatchAllData" ma:web="17632157-d434-43c0-9850-02c0430cbd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097918-6AA8-4AF0-8F54-04A9D98E89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f5b7ef-cb08-4883-8501-6a09caf69219"/>
    <ds:schemaRef ds:uri="17632157-d434-43c0-9850-02c0430cbd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86F895-B163-4684-803C-BFB9C24D5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Institucional</Template>
  <TotalTime>354</TotalTime>
  <Words>1477</Words>
  <Application>Microsoft Office PowerPoint</Application>
  <PresentationFormat>Widescreen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Franklin Gothic Book</vt:lpstr>
      <vt:lpstr>Apresentação Institucional</vt:lpstr>
      <vt:lpstr>PowerPoint Presentation</vt:lpstr>
      <vt:lpstr>Forest Bathing in Virtual Reality as a Mechanism to Reduce Burnout in Urban Professionals PREPD – MEI 2025/26   Aluno: Renato Ferreira Magalhães – 1240605 Orientadora: Dra. Paula Escudeiro       Porto, 15 Janeiro 2026</vt:lpstr>
      <vt:lpstr>Contexto e Motivação </vt:lpstr>
      <vt:lpstr>Problema e Objetivo Geral </vt:lpstr>
      <vt:lpstr>Questões de Investigação e Hipóteses </vt:lpstr>
      <vt:lpstr>Estado da Arte</vt:lpstr>
      <vt:lpstr>Metodologia</vt:lpstr>
      <vt:lpstr>Metodologia</vt:lpstr>
      <vt:lpstr>Aplicação Forest Bathing VR</vt:lpstr>
      <vt:lpstr>Gestão do Projeto</vt:lpstr>
      <vt:lpstr>Gestão do Projeto</vt:lpstr>
      <vt:lpstr>Gestão do Projeto</vt:lpstr>
      <vt:lpstr>Considerações Éticas</vt:lpstr>
      <vt:lpstr>Próximos Passos</vt:lpstr>
      <vt:lpstr>Contribuições esperadas</vt:lpstr>
      <vt:lpstr>Referências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Joel Vilas Boas</dc:creator>
  <cp:lastModifiedBy>Renato Ferreira Magalhães</cp:lastModifiedBy>
  <cp:revision>2</cp:revision>
  <dcterms:created xsi:type="dcterms:W3CDTF">2023-07-04T11:44:03Z</dcterms:created>
  <dcterms:modified xsi:type="dcterms:W3CDTF">2026-01-06T21:33:43Z</dcterms:modified>
</cp:coreProperties>
</file>